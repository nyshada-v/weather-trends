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ozilla Headline"/>
      <p:regular r:id="rId201314"/>
    </p:embeddedFont>
    <p:embeddedFont>
      <p:font typeface="Mozilla Headline Bold"/>
      <p:regular r:id="rId201315"/>
    </p:embeddedFont>
    <p:embeddedFont>
      <p:font typeface="Public Sans"/>
      <p:regular r:id="rId201316"/>
    </p:embeddedFont>
    <p:embeddedFont>
      <p:font typeface="Public Sans Medium"/>
      <p:regular r:id="rId201317"/>
    </p:embeddedFont>
    <p:embeddedFont>
      <p:font typeface="Public Sans SemiBold"/>
      <p:regular r:id="rId201318"/>
    </p:embeddedFont>
    <p:embeddedFont>
      <p:font typeface="Public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2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0B8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22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FD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2590800"/>
            <a:ext cx="6603835" cy="4091682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2173" y="2957742"/>
            <a:ext cx="5943451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19" kern="100" dirty="0">
                <a:solidFill>
                  <a:srgbClr val="000000"/>
                </a:solidFill>
                <a:latin typeface="Mozilla Headline" pitchFamily="34" charset="0"/>
                <a:ea typeface="Mozilla Headline" pitchFamily="34" charset="-122"/>
                <a:cs typeface="Mozilla Headline" pitchFamily="34" charset="-120"/>
              </a:rPr>
              <a:t>Weather Trend Analysis and Extreme Temperature Pattern Detection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2173" y="4659729"/>
            <a:ext cx="594345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Machine-learning workflow for discovering long-term temperature behavior and flagging unusual extremes.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2173" y="5462330"/>
            <a:ext cx="5943451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roll1</a:t>
            </a:r>
            <a:endParaRPr lang="en-US" sz="13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roll2</a:t>
            </a:r>
            <a:endParaRPr lang="en-US" sz="13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roll3</a:t>
            </a:r>
            <a:endParaRPr lang="en-US" sz="13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00" spc="6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152400"/>
            <a:ext cx="10667733" cy="6240264"/>
          </a:xfrm>
          <a:prstGeom prst="roundRect">
            <a:avLst>
              <a:gd name="adj" fmla="val 4396"/>
            </a:avLst>
          </a:prstGeom>
          <a:solidFill>
            <a:srgbClr val="22305E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42971" y="302600"/>
            <a:ext cx="990575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Problem Statement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971" y="970220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0655" y="986929"/>
            <a:ext cx="92580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Problem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90655" y="1461909"/>
            <a:ext cx="92580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Daily weather records contain noise, missing values, seasonality, and station-level variation.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1" y="1924606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90655" y="1941314"/>
            <a:ext cx="92580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Need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790655" y="2416294"/>
            <a:ext cx="92580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Combine trend analysis with a repeatable detector for unusually hot or cold observations.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1" y="2878991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90655" y="2895699"/>
            <a:ext cx="92580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Project aim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790655" y="3370679"/>
            <a:ext cx="92580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Transform raw observations into interpretable trends, engineered signals, and evaluated predictions.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0" y="6443464"/>
            <a:ext cx="12191695" cy="414635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254000"/>
            <a:ext cx="10667733" cy="5706666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42971" y="531200"/>
            <a:ext cx="990575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Foundation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42971" y="1198860"/>
            <a:ext cx="9905752" cy="257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Chosen dataset: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NOAA Global Historical Climatology Network Daily (GHCN-Daily), a quality-reviewed archive of daily land-station climate summaries.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Available inputs: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daily maximum temperature, minimum temperature, precipitation, snowfall, snow depth, station metadata, and observation dates.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Project scope: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select one station or city subset and define the analysis window before model training.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Target: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classify an observation as normal vs. extreme, with optional hot/cold subclasses.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6240066"/>
            <a:ext cx="12191695" cy="617538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254000"/>
            <a:ext cx="2674871" cy="336649"/>
          </a:xfrm>
          <a:custGeom>
            <a:avLst/>
            <a:gdLst/>
            <a:ahLst/>
            <a:cxnLst/>
            <a:rect l="l" t="t" r="r" b="b"/>
            <a:pathLst>
              <a:path w="2674871" h="336649">
                <a:moveTo>
                  <a:pt x="152396" y="0"/>
                </a:moveTo>
                <a:lnTo>
                  <a:pt x="2522474" y="0"/>
                </a:lnTo>
                <a:arcTo hR="152400" wR="152396" stAng="16200000" swAng="5400000"/>
                <a:lnTo>
                  <a:pt x="2674871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91458" y="328787"/>
            <a:ext cx="302550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1981" y="784324"/>
            <a:ext cx="10667733" cy="5080397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2971" y="1086925"/>
            <a:ext cx="990575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Feature engineering turns weather history into learnable signals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2971" y="2229545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7" name="Text 5"/>
          <p:cNvSpPr/>
          <p:nvPr/>
        </p:nvSpPr>
        <p:spPr>
          <a:xfrm>
            <a:off x="1243081" y="2337495"/>
            <a:ext cx="84115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41B2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2971" y="2747665"/>
            <a:ext cx="2247844" cy="1905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142971" y="2906514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Clean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42971" y="3356094"/>
            <a:ext cx="224784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Handle missing and flagged observations; standardize units and align dates.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95608" y="2229545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3773294" y="2337495"/>
            <a:ext cx="88590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41B2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95608" y="2747665"/>
            <a:ext cx="2247844" cy="1905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3695608" y="2906514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Calendar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95608" y="3356094"/>
            <a:ext cx="224784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day-of-year, month, season, and cyclical sine/cosine signals.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48244" y="2229545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53" y="2337495"/>
            <a:ext cx="89165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41B2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8244" y="2747665"/>
            <a:ext cx="2247844" cy="1905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244" y="2906514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Rolling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48244" y="3356094"/>
            <a:ext cx="224784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3-day and 7-day means, volatility, and lagged temperature values.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800880" y="2229545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2" name="Text 20"/>
          <p:cNvSpPr/>
          <p:nvPr/>
        </p:nvSpPr>
        <p:spPr>
          <a:xfrm>
            <a:off x="8876681" y="2337495"/>
            <a:ext cx="88967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41B2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800880" y="2747665"/>
            <a:ext cx="2247844" cy="1905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8800880" y="2906514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Anomaly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800880" y="3356094"/>
            <a:ext cx="224784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observations with a seasonal baseline and apply the project threshold.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142971" y="4732536"/>
            <a:ext cx="9905752" cy="852785"/>
          </a:xfrm>
          <a:prstGeom prst="roundRect">
            <a:avLst>
              <a:gd name="adj" fmla="val 22785"/>
            </a:avLst>
          </a:prstGeom>
          <a:solidFill>
            <a:srgbClr val="4B3F02"/>
          </a:solidFill>
          <a:ln/>
        </p:spPr>
      </p:sp>
      <p:sp>
        <p:nvSpPr>
          <p:cNvPr id="27" name="Text 25"/>
          <p:cNvSpPr/>
          <p:nvPr/>
        </p:nvSpPr>
        <p:spPr>
          <a:xfrm>
            <a:off x="1358866" y="5005110"/>
            <a:ext cx="1007084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a time-aware train, validation, and test split so future information never leaks into the past.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0" y="6144121"/>
            <a:ext cx="12191695" cy="713879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189" y="6347242"/>
            <a:ext cx="112773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Raw observations → aligned dates → temporal context → anomaly signal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203200"/>
            <a:ext cx="2061813" cy="336649"/>
          </a:xfrm>
          <a:custGeom>
            <a:avLst/>
            <a:gdLst/>
            <a:ahLst/>
            <a:cxnLst/>
            <a:rect l="l" t="t" r="r" b="b"/>
            <a:pathLst>
              <a:path w="2061813" h="336649">
                <a:moveTo>
                  <a:pt x="152396" y="0"/>
                </a:moveTo>
                <a:lnTo>
                  <a:pt x="1909417" y="0"/>
                </a:lnTo>
                <a:arcTo hR="152400" wR="152396" stAng="16200000" swAng="5400000"/>
                <a:lnTo>
                  <a:pt x="2061813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91458" y="277987"/>
            <a:ext cx="24124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BASELINE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1981" y="733524"/>
            <a:ext cx="10667733" cy="5277941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2971" y="909125"/>
            <a:ext cx="990575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A transparent baseline makes the detector easy to evaluate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749" y="3161308"/>
            <a:ext cx="3682908" cy="1588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0481" y="3342386"/>
            <a:ext cx="2025343" cy="11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Engineered Weather Signals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470481" y="3710681"/>
            <a:ext cx="2025343" cy="11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Transparent Baseline Model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470481" y="4075294"/>
            <a:ext cx="2025343" cy="11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Class Label and Probability Score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470481" y="4439906"/>
            <a:ext cx="2025343" cy="116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Feature-Importance Interpretation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288128" y="2356247"/>
            <a:ext cx="5760497" cy="319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Baseline: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Logistic regression or random forest for extreme-event classification.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Inputs: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Lagged temperature, rolling statistics, precipitation context, seasonality, and station metadata.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Output: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Class label plus probability score for each observation. 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Interpretability: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Feature importance or coefficient analysis explains which signals drive the flag.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Decision rule: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Compare with one stronger model only if recall improves without sacrificing interpretability.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240066"/>
            <a:ext cx="12191695" cy="617538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254000"/>
            <a:ext cx="1538844" cy="336649"/>
          </a:xfrm>
          <a:custGeom>
            <a:avLst/>
            <a:gdLst/>
            <a:ahLst/>
            <a:cxnLst/>
            <a:rect l="l" t="t" r="r" b="b"/>
            <a:pathLst>
              <a:path w="1538844" h="336649">
                <a:moveTo>
                  <a:pt x="152396" y="0"/>
                </a:moveTo>
                <a:lnTo>
                  <a:pt x="1386448" y="0"/>
                </a:lnTo>
                <a:arcTo hR="152400" wR="152396" stAng="16200000" swAng="5400000"/>
                <a:lnTo>
                  <a:pt x="1538844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91458" y="328787"/>
            <a:ext cx="188947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1981" y="784324"/>
            <a:ext cx="10667733" cy="4879876"/>
          </a:xfrm>
          <a:prstGeom prst="roundRect">
            <a:avLst>
              <a:gd name="adj" fmla="val 5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2971" y="1086925"/>
            <a:ext cx="990575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Outputs should report more than accuracy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2971" y="1754584"/>
            <a:ext cx="50799" cy="2650430"/>
          </a:xfrm>
          <a:prstGeom prst="rect">
            <a:avLst/>
          </a:prstGeom>
          <a:solidFill>
            <a:srgbClr val="D6E3E8"/>
          </a:solidFill>
          <a:ln/>
        </p:spPr>
      </p:sp>
      <p:sp>
        <p:nvSpPr>
          <p:cNvPr id="7" name="Text 5"/>
          <p:cNvSpPr/>
          <p:nvPr/>
        </p:nvSpPr>
        <p:spPr>
          <a:xfrm>
            <a:off x="1422364" y="1771253"/>
            <a:ext cx="281932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Classification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22364" y="2246233"/>
            <a:ext cx="281932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Accuracy, precision, recall, F1-score, ROC-AUC, and confusion matrix.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46486" y="1754584"/>
            <a:ext cx="50799" cy="2650430"/>
          </a:xfrm>
          <a:prstGeom prst="rect">
            <a:avLst/>
          </a:prstGeom>
          <a:solidFill>
            <a:srgbClr val="D6E3E8"/>
          </a:solidFill>
          <a:ln/>
        </p:spPr>
      </p:sp>
      <p:sp>
        <p:nvSpPr>
          <p:cNvPr id="10" name="Text 8"/>
          <p:cNvSpPr/>
          <p:nvPr/>
        </p:nvSpPr>
        <p:spPr>
          <a:xfrm>
            <a:off x="4825879" y="1771253"/>
            <a:ext cx="281932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Trend analysis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25879" y="2246233"/>
            <a:ext cx="281932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Rolling average, seasonal baseline, anomaly score, and event frequency over time.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0001" y="1754584"/>
            <a:ext cx="50799" cy="265043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394" y="1771253"/>
            <a:ext cx="281932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Operational view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9394" y="2246233"/>
            <a:ext cx="281932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Predicted probability, alert threshold, false-positive review, and seasonal error breakdown.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2971" y="4532015"/>
            <a:ext cx="9905752" cy="852785"/>
          </a:xfrm>
          <a:prstGeom prst="roundRect">
            <a:avLst>
              <a:gd name="adj" fmla="val 22785"/>
            </a:avLst>
          </a:prstGeom>
          <a:solidFill>
            <a:srgbClr val="FCF2B5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189" y="6246931"/>
            <a:ext cx="112773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 useful detector explains what it flags, when it fails, and how stable the signal is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127000"/>
            <a:ext cx="2982143" cy="336649"/>
          </a:xfrm>
          <a:custGeom>
            <a:avLst/>
            <a:gdLst/>
            <a:ahLst/>
            <a:cxnLst/>
            <a:rect l="l" t="t" r="r" b="b"/>
            <a:pathLst>
              <a:path w="2982143" h="336649">
                <a:moveTo>
                  <a:pt x="152396" y="0"/>
                </a:moveTo>
                <a:lnTo>
                  <a:pt x="2829747" y="0"/>
                </a:lnTo>
                <a:arcTo hR="152400" wR="152396" stAng="16200000" swAng="5400000"/>
                <a:lnTo>
                  <a:pt x="2982143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91458" y="201787"/>
            <a:ext cx="33327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RESULTS AFTER TRAINING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1981" y="657324"/>
            <a:ext cx="6563255" cy="5582940"/>
          </a:xfrm>
          <a:prstGeom prst="roundRect">
            <a:avLst>
              <a:gd name="adj" fmla="val 4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6773" y="934525"/>
            <a:ext cx="5953671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Results: connect the trend line to the extreme-event signal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773" y="2463205"/>
            <a:ext cx="5953671" cy="33489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9929" y="657324"/>
            <a:ext cx="3799785" cy="5582940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34722" y="1471017"/>
            <a:ext cx="31902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Metrics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934722" y="1945997"/>
            <a:ext cx="3190200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Accuracy [value]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Precision [value]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Recall [value]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F1-score [value]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ROC-AUC [value]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34722" y="3718818"/>
            <a:ext cx="31902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Readout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934722" y="4193798"/>
            <a:ext cx="319020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 whether hot or cold events are missed more often, and which seasons create the most false alarms.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316464"/>
            <a:ext cx="12191695" cy="541437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127000"/>
            <a:ext cx="1538844" cy="336649"/>
          </a:xfrm>
          <a:custGeom>
            <a:avLst/>
            <a:gdLst/>
            <a:ahLst/>
            <a:cxnLst/>
            <a:rect l="l" t="t" r="r" b="b"/>
            <a:pathLst>
              <a:path w="1538844" h="336649">
                <a:moveTo>
                  <a:pt x="152396" y="0"/>
                </a:moveTo>
                <a:lnTo>
                  <a:pt x="1386448" y="0"/>
                </a:lnTo>
                <a:arcTo hR="152400" wR="152396" stAng="16200000" swAng="5400000"/>
                <a:lnTo>
                  <a:pt x="1538844" y="285849"/>
                </a:lnTo>
                <a:arcTo hR="50800" wR="50799" stAng="0" swAng="5400000"/>
                <a:lnTo>
                  <a:pt x="50799" y="336649"/>
                </a:lnTo>
                <a:arcTo hR="50800" wR="50799" stAng="5400000" swAng="5400000"/>
                <a:lnTo>
                  <a:pt x="0" y="152400"/>
                </a:lnTo>
                <a:arcTo hR="152400" wR="152396" stAng="10800000" swAng="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91458" y="201787"/>
            <a:ext cx="188947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63" kern="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1981" y="657324"/>
            <a:ext cx="10667733" cy="5232598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" dist="36830" dir="5400000">
              <a:srgbClr val="141b2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2971" y="832925"/>
            <a:ext cx="990575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Future goals: move from detection to dependable forecasting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2971" y="2044759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971" y="2044759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2556" y="2130723"/>
            <a:ext cx="92961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Broaden the comparison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752556" y="2605703"/>
            <a:ext cx="92961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Extend from one station to multi-station and regional comparisons.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142971" y="2985254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1" y="2985254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2556" y="3071217"/>
            <a:ext cx="92961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Strengthen the detector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752556" y="3546197"/>
            <a:ext cx="92961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calibrated thresholds, class balancing, and stronger time-series models.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142971" y="3925749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1" y="3925749"/>
            <a:ext cx="431789" cy="43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52556" y="4011712"/>
            <a:ext cx="92961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Monitor reliability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752556" y="4486692"/>
            <a:ext cx="92961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explainability, uncertainty bands, and drift monitoring for new observations.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1142971" y="4866243"/>
            <a:ext cx="431789" cy="431800"/>
          </a:xfrm>
          <a:prstGeom prst="ellipse">
            <a:avLst/>
          </a:prstGeom>
          <a:solidFill>
            <a:srgbClr val="FFD23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71" y="4866243"/>
            <a:ext cx="431789" cy="431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2556" y="4952206"/>
            <a:ext cx="92961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Package the workflow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1752556" y="5427186"/>
            <a:ext cx="92961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Turn the analysis into a reproducible dashboard or alerting tool.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0" y="5991523"/>
            <a:ext cx="12191695" cy="866477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3" name="Text 17"/>
          <p:cNvSpPr/>
          <p:nvPr/>
        </p:nvSpPr>
        <p:spPr>
          <a:xfrm>
            <a:off x="457189" y="6270942"/>
            <a:ext cx="112773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Thank you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2026-10-17T16:42:36Z</dcterms:created>
  <dcterms:modified xsi:type="dcterms:W3CDTF">2026-10-17T16:42:36Z</dcterms:modified>
</cp:coreProperties>
</file>